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a069e4f17425b" /><Relationship Type="http://schemas.openxmlformats.org/officeDocument/2006/relationships/extended-properties" Target="/docProps/app.xml" Id="R45d587204e474c75" /><Relationship Type="http://schemas.openxmlformats.org/officeDocument/2006/relationships/officeDocument" Target="/ppt/presentation.xml" Id="R9513798c90064b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eca6059c74bf1"/>
  </p:sldMasterIdLst>
  <p:notesMasterIdLst>
    <p:notesMasterId xmlns:r="http://schemas.openxmlformats.org/officeDocument/2006/relationships" r:id="R31b6a21e7eb143db"/>
  </p:notesMasterIdLst>
  <p:sldIdLst>
    <p:sldId xmlns:r="http://schemas.openxmlformats.org/officeDocument/2006/relationships" id="256" r:id="R3f7f80197f314e3b"/>
    <p:sldId xmlns:r="http://schemas.openxmlformats.org/officeDocument/2006/relationships" id="257" r:id="R6ce5318a43f24bd5"/>
    <p:sldId xmlns:r="http://schemas.openxmlformats.org/officeDocument/2006/relationships" id="258" r:id="Re1bd1149d1064810"/>
    <p:sldId xmlns:r="http://schemas.openxmlformats.org/officeDocument/2006/relationships" id="259" r:id="Rf8bdbfb552ec45c9"/>
    <p:sldId xmlns:r="http://schemas.openxmlformats.org/officeDocument/2006/relationships" id="260" r:id="Rb14025712b7840c8"/>
    <p:sldId xmlns:r="http://schemas.openxmlformats.org/officeDocument/2006/relationships" id="261" r:id="R18f77e2f9bb642f4"/>
    <p:sldId xmlns:r="http://schemas.openxmlformats.org/officeDocument/2006/relationships" id="262" r:id="R7dac6599f70a4eed"/>
    <p:sldId xmlns:r="http://schemas.openxmlformats.org/officeDocument/2006/relationships" id="263" r:id="R3e8528f19bb541ac"/>
    <p:sldId xmlns:r="http://schemas.openxmlformats.org/officeDocument/2006/relationships" id="264" r:id="Red6f8cad91df41e0"/>
    <p:sldId xmlns:r="http://schemas.openxmlformats.org/officeDocument/2006/relationships" id="265" r:id="Rea2a9473b3eb4e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eca6059c74bf1" /><Relationship Type="http://schemas.openxmlformats.org/officeDocument/2006/relationships/theme" Target="/ppt/theme/theme1.xml" Id="R957d1bdb8e1b4ec8" /><Relationship Type="http://schemas.openxmlformats.org/officeDocument/2006/relationships/notesMaster" Target="/ppt/notesMasters/notesMaster1.xml" Id="R31b6a21e7eb143db" /><Relationship Type="http://schemas.openxmlformats.org/officeDocument/2006/relationships/presProps" Target="/ppt/presProps.xml" Id="R77afb9a419014bab" /><Relationship Type="http://schemas.openxmlformats.org/officeDocument/2006/relationships/viewProps" Target="/ppt/viewProps.xml" Id="R9a8bd6345a4548be" /><Relationship Type="http://schemas.openxmlformats.org/officeDocument/2006/relationships/tableStyles" Target="/ppt/tableStyles.xml" Id="R1b8287f229b14cab" /><Relationship Type="http://schemas.openxmlformats.org/officeDocument/2006/relationships/slide" Target="/ppt/slides/slide1.xml" Id="R3f7f80197f314e3b" /><Relationship Type="http://schemas.openxmlformats.org/officeDocument/2006/relationships/slide" Target="/ppt/slides/slide2.xml" Id="R6ce5318a43f24bd5" /><Relationship Type="http://schemas.openxmlformats.org/officeDocument/2006/relationships/slide" Target="/ppt/slides/slide3.xml" Id="Re1bd1149d1064810" /><Relationship Type="http://schemas.openxmlformats.org/officeDocument/2006/relationships/slide" Target="/ppt/slides/slide4.xml" Id="Rf8bdbfb552ec45c9" /><Relationship Type="http://schemas.openxmlformats.org/officeDocument/2006/relationships/slide" Target="/ppt/slides/slide5.xml" Id="Rb14025712b7840c8" /><Relationship Type="http://schemas.openxmlformats.org/officeDocument/2006/relationships/slide" Target="/ppt/slides/slide6.xml" Id="R18f77e2f9bb642f4" /><Relationship Type="http://schemas.openxmlformats.org/officeDocument/2006/relationships/slide" Target="/ppt/slides/slide7.xml" Id="R7dac6599f70a4eed" /><Relationship Type="http://schemas.openxmlformats.org/officeDocument/2006/relationships/slide" Target="/ppt/slides/slide8.xml" Id="R3e8528f19bb541ac" /><Relationship Type="http://schemas.openxmlformats.org/officeDocument/2006/relationships/slide" Target="/ppt/slides/slide9.xml" Id="Red6f8cad91df41e0" /><Relationship Type="http://schemas.openxmlformats.org/officeDocument/2006/relationships/slide" Target="/ppt/slides/slide10.xml" Id="Rea2a9473b3eb4e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7de55e8d86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Gujarat Tuition Theme">
  <a:themeElements>
    <a:clrScheme name="Gujarat Tuition Theme">
      <a:accent1>
        <a:srgbClr val="0EA5E9"/>
      </a:accent1>
      <a:accent2>
        <a:srgbClr val="14B8A6"/>
      </a:accent2>
      <a:accent3>
        <a:srgbClr val="F59E0B"/>
      </a:accent3>
      <a:accent4>
        <a:srgbClr val="10B981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ujarat Tuition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9cd87fa7934b18" /><Relationship Type="http://schemas.openxmlformats.org/officeDocument/2006/relationships/notesMaster" Target="/ppt/notesMasters/notesMaster1.xml" Id="R4f374f425660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281c04a6724647" /><Relationship Type="http://schemas.openxmlformats.org/officeDocument/2006/relationships/notesMaster" Target="/ppt/notesMasters/notesMaster1.xml" Id="R3d22f3ca2a7843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9a8782cd244c0" /><Relationship Type="http://schemas.openxmlformats.org/officeDocument/2006/relationships/notesMaster" Target="/ppt/notesMasters/notesMaster1.xml" Id="Rafd2ab3bb284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4256fadf44fbf" /><Relationship Type="http://schemas.openxmlformats.org/officeDocument/2006/relationships/notesMaster" Target="/ppt/notesMasters/notesMaster1.xml" Id="R018bba7f3b7b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6168aefc624f66" /><Relationship Type="http://schemas.openxmlformats.org/officeDocument/2006/relationships/notesMaster" Target="/ppt/notesMasters/notesMaster1.xml" Id="R0979a0e88fdc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62efe650484875" /><Relationship Type="http://schemas.openxmlformats.org/officeDocument/2006/relationships/notesMaster" Target="/ppt/notesMasters/notesMaster1.xml" Id="Rf1fd55f858eb44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e43aafa2384f4e" /><Relationship Type="http://schemas.openxmlformats.org/officeDocument/2006/relationships/notesMaster" Target="/ppt/notesMasters/notesMaster1.xml" Id="R7ff291bbf16e44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a7207eeb04de4" /><Relationship Type="http://schemas.openxmlformats.org/officeDocument/2006/relationships/notesMaster" Target="/ppt/notesMasters/notesMaster1.xml" Id="R5782680b53d0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ed737175644cdd" /><Relationship Type="http://schemas.openxmlformats.org/officeDocument/2006/relationships/notesMaster" Target="/ppt/notesMasters/notesMaster1.xml" Id="Rf8cad459a69c45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d57c634045446e" /><Relationship Type="http://schemas.openxmlformats.org/officeDocument/2006/relationships/notesMaster" Target="/ppt/notesMasters/notesMaster1.xml" Id="Rac020d2dcfff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cf31c4d1d4e4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3173FD9-5EF8-4CF3-BA78-AD1EC39A5A2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2EDA64-39E6-4937-BAB2-F3B5CEED8A7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22FC0D-D996-4F7E-AD5D-B40058C9FE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B06AE4-2C3A-4E7D-8687-83E5A2CE40C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737d2876204477" /><Relationship Type="http://schemas.openxmlformats.org/officeDocument/2006/relationships/slideLayout" Target="/ppt/slideLayouts/slideLayout2.xml" Id="Rcad41a38cfd9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AB342B-86FB-444A-9424-CBF039706FF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41a38cfd9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080af144f43c7" /><Relationship Type="http://schemas.openxmlformats.org/officeDocument/2006/relationships/notesSlide" Target="/ppt/notesSlides/notesSlide1.xml" Id="Rb93ef0b2d57a46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1e97a72d84ff5" /><Relationship Type="http://schemas.openxmlformats.org/officeDocument/2006/relationships/notesSlide" Target="/ppt/notesSlides/notesSlide2.xml" Id="Rc830bba1e23c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464b7eca847e3" /><Relationship Type="http://schemas.openxmlformats.org/officeDocument/2006/relationships/notesSlide" Target="/ppt/notesSlides/notesSlide3.xml" Id="R676ca68dd4be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5d51ec122b42d3" /><Relationship Type="http://schemas.openxmlformats.org/officeDocument/2006/relationships/notesSlide" Target="/ppt/notesSlides/notesSlide4.xml" Id="R9f7009d9496c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39efc552ec448a" /><Relationship Type="http://schemas.openxmlformats.org/officeDocument/2006/relationships/notesSlide" Target="/ppt/notesSlides/notesSlide5.xml" Id="R5df72de7a869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12669258da49fc" /><Relationship Type="http://schemas.openxmlformats.org/officeDocument/2006/relationships/notesSlide" Target="/ppt/notesSlides/notesSlide6.xml" Id="R36c2712fb8bb4d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826fdbef4b41a9" /><Relationship Type="http://schemas.openxmlformats.org/officeDocument/2006/relationships/chart" Target="/ppt/slides/charts/chart1.xml" Id="Rf97a568c57e14e06" /><Relationship Type="http://schemas.openxmlformats.org/officeDocument/2006/relationships/notesSlide" Target="/ppt/notesSlides/notesSlide7.xml" Id="Rc30c7d0c42794c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ae9c70a6d4cfd" /><Relationship Type="http://schemas.openxmlformats.org/officeDocument/2006/relationships/notesSlide" Target="/ppt/notesSlides/notesSlide8.xml" Id="Re99e50a6931c4d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ce2cc847b4a91" /><Relationship Type="http://schemas.openxmlformats.org/officeDocument/2006/relationships/notesSlide" Target="/ppt/notesSlides/notesSlide9.xml" Id="Rebaf8c33ed0949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a4a05f2f24aba" /><Relationship Type="http://schemas.openxmlformats.org/officeDocument/2006/relationships/notesSlide" Target="/ppt/notesSlides/notesSlide10.xml" Id="R4b16a6c10de046ae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Poppins"/>
                <a:ea typeface="Poppins"/>
                <a:cs typeface="Poppins"/>
              </a:rPr>
              <a:t>Weakness by Topic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Weakness Score</c:v>
          </c:tx>
          <c:spPr>
            <a:solidFill xmlns:a="http://schemas.openxmlformats.org/drawingml/2006/main">
              <a:srgbClr val="F59E0B"/>
            </a:solidFill>
            <a:ln xmlns:a="http://schemas.openxmlformats.org/drawingml/2006/main" w="9525">
              <a:solidFill>
                <a:srgbClr val="F59E0B"/>
              </a:solidFill>
              <a:prstDash val="solid"/>
            </a:ln>
          </c:spPr>
          <c:cat>
            <c:strLit>
              <c:ptCount val="4"/>
              <c:pt idx="0">
                <c:v>Algebra</c:v>
              </c:pt>
              <c:pt idx="1">
                <c:v>Trigonometry</c:v>
              </c:pt>
              <c:pt idx="2">
                <c:v>Organic Chem</c:v>
              </c:pt>
              <c:pt idx="3">
                <c:v>Accountancy</c:v>
              </c:pt>
            </c:strLit>
          </c:cat>
          <c:val>
            <c:numLit>
              <c:formatCode/>
              <c:ptCount val="4"/>
              <c:pt idx="0">
                <c:v>72</c:v>
              </c:pt>
              <c:pt idx="1">
                <c:v>58</c:v>
              </c:pt>
              <c:pt idx="2">
                <c:v>81</c:v>
              </c:pt>
              <c:pt idx="3">
                <c:v>49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E38C6-DB02-46A2-94CF-46C86C56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ECEDC-49A0-492A-AA47-C1A08A5B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52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74"/>
          </a:solidFill>
          <a:ln xmlns:a="http://schemas.openxmlformats.org/drawingml/2006/main" w="0">
            <a:solidFill>
              <a:srgbClr val="123A7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3A2D7-9E25-456C-84CE-D4F347DF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989CC-EE77-4364-9E4F-D0040728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9F2AC-A2D6-4207-B4D8-F1B8B6C8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2000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74C66-702C-4012-B84C-DE389F1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Client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2C54F-3BCB-4740-9C41-232CF949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Smart Exam Portal for Gujarat Tuition Classes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9B046-878F-4F00-BF75-756C6B8E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F7"/>
                </a:solidFill>
              </a:defRPr>
            </a:pPr>
            <a:r>
              <a:rPr sz="1425" b="0">
                <a:solidFill>
                  <a:srgbClr val="DCE7F7"/>
                </a:solidFill>
              </a:rPr>
              <a:t>A test, analysis, and improvement system that helps coaching institutes conduct exams, evaluate instantly, and identify weak topics automatically.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AE397-6906-4AB1-A853-C2808B2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04825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B13CC-AABB-47E0-9914-E803C3A5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629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Dynamic exam paper generation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Instant evaluation with analytics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Student and batch weak-topic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AA52A-6FAC-4FF6-A843-810B5234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Prepared for local coaching and tuition institutes</a:t>
            </a:r>
          </a:p>
        </p:txBody>
      </p:sp>
    </p:spTree>
    <p:extLst>
      <p:ext uri="{BB962C8B-B14F-4D97-AF65-F5344CB8AC3E}">
        <p14:creationId xmlns:p14="http://schemas.microsoft.com/office/powerpoint/2010/main" val="2012642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3577A-0A38-44D3-ACA9-A3E3213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9DE77-AF44-4021-80C8-1159012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507C2-63CB-462A-A43A-1EDACC9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Why Tuition Classes Need More Than a Basic Exam 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816E2-7E84-47CC-B253-4DC0BA2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Current pain points in daily coaching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58180-FBA4-4FA5-A374-082A6B95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7F125-0D1F-4E04-8DFC-084AE179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7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57F6A-B532-4129-8EBF-9F5C88B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Manual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5B59C-C14F-4FC1-AD4C-66172C9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Paper creation takes too much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F0B6C-707C-49D1-B54A-38B91162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Teachers often prepare tests manually chapter by chapter, which slows down academic planning and makes standardization difficult.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6D508-07C4-4819-8F20-151CC77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4765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ED1AB-44CD-4303-B4D9-34149EA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1047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47F2B-FF77-4199-B1B4-BC88C58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288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Limited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79304-60C7-404C-A881-9683DBA5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Weak topics stay hidden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258D8-3988-48F6-8B07-D51899A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After tests, marks are visible but real topic-level weaknesses are not clearly identified for each student or batch.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A33A8-E737-46C3-9F93-4530D286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4765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E5B34-B0AF-4DCF-9EB8-FB63F73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1047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3B831-564E-4A0D-93E1-A14EBC7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Low Engagement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7880E-1B43-47A4-8ACE-6F737E3D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Students do not get targeted follow-up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D90D2-62C1-4F4D-975A-FEEAD96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Most systems stop at score calculation instead of using exam data to create smart remediation and practice.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DE1A0-C009-4F84-BB5D-FC6C4582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76225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23B01-6178-4BF7-9AA9-DD9B07F9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047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A63A7-26A7-4685-AE3F-21C23A0E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Parent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44DF0-2CFD-45C2-89BA-5E9192A4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Parents need visible progress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DDBB1-E092-4169-AD8C-A102DC4D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Institutes want better reporting to show improvement, rank, consistency, and academic discipline to parents.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83E8A-D24E-40E2-96E2-458BF5F2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BD35E-79D8-461D-B42F-068FEDBA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9625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this means for the institute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0060A-9285-4864-8330-0EB4F506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971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• More time spent on teaching than manual test operations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• Better academic control across classes, streams, and batches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• Stronger proof of value to students and parents</a:t>
            </a:r>
          </a:p>
        </p:txBody>
      </p:sp>
    </p:spTree>
    <p:extLst>
      <p:ext uri="{BB962C8B-B14F-4D97-AF65-F5344CB8AC3E}">
        <p14:creationId xmlns:p14="http://schemas.microsoft.com/office/powerpoint/2010/main" val="1932089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4425B-0C8E-4627-B297-D787C61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B18DB-EE36-4D23-92E7-6EA0B31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14C5E-A9E5-40D4-9E3A-C794A75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Our Proposed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97735-E4BD-48AA-BE46-263FC200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A smart exam platform built for coaching-class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0EE0D-FFA5-4554-A25D-48630A65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09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3BF05-6D2C-4D41-8153-E6ED899C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1981200" cy="2714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D6A89-8627-4C99-9414-DCC490DC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241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2B0A3-EF98-46B8-9C92-E21441B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Organize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C013D-8286-467C-86C8-4CC511B5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Manage classes, streams, batches, students, and subjects in one structured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AAF6D-48E2-4449-A8C4-FF15436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1981200" cy="2714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BA084-098F-4B98-8379-9703CE1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19A4F-B130-4DBB-AB8A-08BAE036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33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Conduct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954B8-94B1-43FE-84F9-033687FF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62375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Generate exams dynamically, schedule tests, and deliver a reliable timed exam experience.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E2E3C-900C-4C7C-B09D-4C2F1490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1981200" cy="2714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FB966-D074-4238-86C5-DA1A5533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41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C9ED9-71A0-4CB8-A98E-2290AD92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A4CB2-4AC6-4D17-B1D1-65CD596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62375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Score instantly with negative marking, topic-level analysis, and answer insights.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62F1A-5C87-4C5D-8BD9-EA499CD3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981200" cy="2714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14A99-5919-48A8-AF4E-43177A9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241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258F3-AEFC-47AD-87D4-10F10C35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Improve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DBB2E-2469-4A4E-9E65-8B9D5E3E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62375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Identify weak topics and recommend targeted practice for students and batches.</a:t>
            </a:r>
          </a:p>
        </p:txBody>
      </p:sp>
    </p:spTree>
    <p:extLst>
      <p:ext uri="{BB962C8B-B14F-4D97-AF65-F5344CB8AC3E}">
        <p14:creationId xmlns:p14="http://schemas.microsoft.com/office/powerpoint/2010/main" val="1075987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55F20-0168-46BA-9ACA-E6085210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19303-C420-4057-94C1-8D1D3329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99619-A982-4CBA-A756-8CFD66D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Who Uses the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33DEC-9759-4A1D-8B0A-990C9C4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Simple value for owners, teachers, and students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1C943-B41B-4DB6-9661-609C5FEB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3333750" cy="3143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2F524-AB42-4CC0-BA3E-A68E3B81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428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32CD2-E01E-494D-8DB1-16388FD1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Institute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7911B-0F40-4CC8-90AF-99F3674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38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Creates classes, streams, and batches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Manages users and student enrollments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Gets institute-wide academic 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27260-79AC-4188-8F8C-0F4F866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33750" cy="3143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E3338-1485-41D2-B55B-F1A1E148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1428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3ECBD-68FE-4FFB-BD67-09E0589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621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Faculty / Teacher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213BF-9735-4F44-B4B2-09E19F47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838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Builds question bank by subject and topic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Creates dynamic tests and schedules exams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Reviews weak topics and batch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43BDA-EF94-4301-B4FB-1BD1C4F0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333750" cy="3143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857E7-290F-4389-840F-A13395B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1428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54767-D9B4-408B-BF54-94166C7C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621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5DF48-C3F7-4719-997E-6BA79F42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838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Attempts timed online exams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Sees instant score and solutions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</a:defRPr>
            </a:pPr>
            <a:r>
              <a:rPr sz="1350" b="0">
                <a:solidFill>
                  <a:srgbClr val="1E293B"/>
                </a:solidFill>
              </a:rPr>
              <a:t>• Gets focused practice for weaker chapters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F4D9B-D0C2-4538-ADCE-EBFFC8CF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666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42D2E-F2D7-41A9-AE6F-054B5C05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Phase 2 can also introduce a parent summary view for better communication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1560740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BDE7F-5E6D-4ACE-B104-DF585AF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15DA6-E4F3-4493-955B-C0FF0F53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A6C5B-9F37-426A-8B50-B378945F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Core MVP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9BD5-6A41-44E5-BA4F-6F626932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What is included in the first strong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5BA3B-30DF-4F00-8BD2-91BAF98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B697E-3569-4976-9B5C-1B3BA8AC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65F23-A0E3-400A-916A-375DD86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11430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105DE-4D34-4AC3-ACFB-D70CB61B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A5E9"/>
                </a:solidFill>
              </a:defRPr>
            </a:pPr>
            <a:r>
              <a:rPr sz="900" b="1">
                <a:solidFill>
                  <a:srgbClr val="0EA5E9"/>
                </a:solidFill>
              </a:rPr>
              <a:t>MVP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CEC3F-8764-4667-9A26-98F54FCC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Academic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1C398-934F-46CE-A12D-57619702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Classes, streams, batches, and student assignment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64A4B-D0BC-4A49-A603-D9A0040B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2385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1C59F-7C4E-4AF4-BF9D-C968D4B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48BDE-5012-439B-AEAC-7BC7E6B1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0275"/>
            <a:ext cx="11430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E9EAC-60C6-43FF-9BF0-CC50478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B8A6"/>
                </a:solidFill>
              </a:defRPr>
            </a:pPr>
            <a:r>
              <a:rPr sz="900" b="1">
                <a:solidFill>
                  <a:srgbClr val="14B8A6"/>
                </a:solidFill>
              </a:rPr>
              <a:t>MVP Module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E8507-A4AF-45E5-868D-8DF9AB3C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955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Question Bank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C1843-F08C-44E1-A0A1-20B0C750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03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MCQ single and multi-correct organized by subject and topic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BDE07-B521-4133-9128-F2E7E5E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2385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C3F76-40AC-4F84-B248-5099615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C2177-C6D0-46C9-A521-8CE02548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0275"/>
            <a:ext cx="11430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1B9D5-0489-4177-8D79-4D920F3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MVP Module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A0503-86DC-466D-98AE-DC6B0DC2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Dynamic Papers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899CC-4281-4DC2-B5FD-DCBD03EC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Blueprint-based question selection with marks and difficulty mix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30C74-AAFD-46DD-840F-8FE949FE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2385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26E3D-0DD2-4094-915E-7BBF2E9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B28A7-8EFE-4A61-95BB-B21D19F1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11430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CFD3A-93E2-4CC1-9977-C61296FE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MVP Module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2E7B0-6754-447B-AD17-6F2F4E9E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Live Exam Runner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8A2008-CE1E-4CD3-BBD7-3F40EF2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Timer, palette, auto-save, and auto-submit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52572-B468-4B18-B4EF-5468264E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32385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4F425-5325-4B94-8183-353C2A15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E29BB-844B-4347-B487-6A0BE721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14775"/>
            <a:ext cx="11430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F3"/>
          </a:solidFill>
          <a:ln xmlns:a="http://schemas.openxmlformats.org/drawingml/2006/main" w="0">
            <a:solidFill>
              <a:srgbClr val="FCE7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87B77-1D5C-4C90-952D-94F3A8DA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B7185"/>
                </a:solidFill>
              </a:defRPr>
            </a:pPr>
            <a:r>
              <a:rPr sz="900" b="1">
                <a:solidFill>
                  <a:srgbClr val="FB7185"/>
                </a:solidFill>
              </a:rPr>
              <a:t>MVP Module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7D43C3-FC31-4491-BD99-49B2E1DA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Auto Evaluation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EA9D8F-555A-44AC-A051-ED805692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Instant scoring with negative marking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B1511-7AAF-4C7F-9E2A-ACBEF83F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67125"/>
            <a:ext cx="32385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C65EB-718A-42B6-B217-98448B44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50EAC0-32D2-4959-858B-FE98CA9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14775"/>
            <a:ext cx="11430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6D4E15-4DAE-4D5E-BDB8-3E6B4753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62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MVP Module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5D346-70F9-4164-AE48-3557263D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Deep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6FD3BC-F669-4B82-8DA0-0416C0B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Weak-topic detection and student/batch insights</a:t>
            </a:r>
          </a:p>
        </p:txBody>
      </p:sp>
    </p:spTree>
    <p:extLst>
      <p:ext uri="{BB962C8B-B14F-4D97-AF65-F5344CB8AC3E}">
        <p14:creationId xmlns:p14="http://schemas.microsoft.com/office/powerpoint/2010/main" val="1384642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17C2D-E0A3-4DB4-97B3-30C742A2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09F61-26B4-4C14-B5E1-E941B05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0D1FE-D2BF-4AB5-BBE5-82531BF5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How Dynamic Exam Generation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92145-14F7-4667-B7BB-B8497C09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A practical workflow for faculty and institute admins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F299F-8F45-43DE-834F-0F42EEB2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9050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C12C-0B0F-4930-8DF1-66D70E54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DF8EF-4CBC-484E-99D8-6F5C0972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7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558DB-9410-42C1-9592-D82EAB6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Select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E92C5-62BF-42FC-8E96-02850D4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Teacher chooses class, stream, batch, and exam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6A4A4-B5AE-450D-A316-F84F4CD1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19050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7F654-2867-4BC3-8135-7D6F4A1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B1B5-9950-4913-9AB9-9969791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47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12F5E-0D3A-4475-AE02-AC557294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Define Blueprint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D94FF-7F67-4A61-A440-C706A5E5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Rules for topic coverage, marks, difficulty mix, and duration are configured.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0885E-D2C0-440F-AB74-6CE764CC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19050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AD6EF-0708-4A6A-9BA2-7D3C4F23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FA787-D938-4774-BDF3-CF4242D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47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AE611-9D4B-4B87-8F16-3F08867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Generate Paper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2577E-7991-4D55-BA6F-2C498C90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System pulls approved questions from the bank and creates the paper snapshot.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48FE2-76AB-449A-A13B-544DAB2C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19050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6CB92-D5B2-4E34-9E71-84A7319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D91D9-23CF-447C-A1A4-2F477E1A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6D2D7-1D7E-4871-865D-9A4195A3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Conduct Exam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0887F-9D91-4C0C-AAF5-807ADF4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Students attempt a timed test with palette, review, and autosave.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7A749-4089-458E-A664-EF741270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905000" cy="2000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52683-1406-4057-B8E6-625AFE61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36FD9-9E4E-42C3-BE76-F217DD3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47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D9EB7-9771-4F83-A695-CC7CAFA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146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Evaluate Instantly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6B952-FCF0-4EB8-B1DC-9D448347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337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93B"/>
                </a:solidFill>
              </a:defRPr>
            </a:pPr>
            <a:r>
              <a:rPr sz="1050" b="0">
                <a:solidFill>
                  <a:srgbClr val="1E293B"/>
                </a:solidFill>
              </a:rPr>
              <a:t>Marks, negative score deductions, and topic analytics are calculated.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EBEA58-C3B6-47FD-B9C7-9D8A6D6F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A12EC-E7A4-4B6A-A827-3A4193B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DBB51E-297B-476D-8B0F-DD0B48B5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5D14C-1DF7-428D-911E-1318F193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</p:spTree>
    <p:extLst>
      <p:ext uri="{BB962C8B-B14F-4D97-AF65-F5344CB8AC3E}">
        <p14:creationId xmlns:p14="http://schemas.microsoft.com/office/powerpoint/2010/main" val="495303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44644-DCC8-4327-8E75-FA8733EB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2F4E-E72B-4002-9259-1B00DE4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7C0FB-3429-435E-BA61-8C810592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Automated Evaluation and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AE2A8-C427-4B20-AB81-008D0A8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The platform should not stop at marks. It should guide improvement.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8A4A2-E62D-4035-8419-068726B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714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7A2B4-F4F0-4446-8F04-550EDB99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Sample topic weakness view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047750" y="2667000"/>
          <a:ext xmlns:a="http://schemas.openxmlformats.org/drawingml/2006/main" cx="40957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7a568c57e14e0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69B8C-C9A8-4B86-9DCC-321AB29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5448300" cy="3714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F8CD2-8B52-446E-9913-A40ACC66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the institute 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4CFDB-A53A-49C8-AA9B-B09105A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4767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• Instant score and negative-mark calculation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• Topic-wise student and batch performance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• Most wrongly answered questions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• At-risk students and high-potential students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• Data-backed follow-up practice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EB82F-AAE7-4073-B5C2-7EBD93BE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2000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EBD45-A6E2-4FBC-96C3-EC4E968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910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High-Impact Feature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24546-5E07-40C9-B42A-2D26AE8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816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system identifies weak topics automatically instead of leaving analysis entirely to teachers.</a:t>
            </a:r>
          </a:p>
        </p:txBody>
      </p:sp>
    </p:spTree>
    <p:extLst>
      <p:ext uri="{BB962C8B-B14F-4D97-AF65-F5344CB8AC3E}">
        <p14:creationId xmlns:p14="http://schemas.microsoft.com/office/powerpoint/2010/main" val="1314548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FFCB2-5337-478F-A4FC-6F2E5094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BDEA9-4B16-432F-9F1C-B8192CED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95B41-BF73-44E4-9210-C4251D9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Why This Is Stronger Than a Normal Exam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A145D-67CD-4A5D-96C3-D63CD59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Business differentiators for Gujarat tuition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31237-68C9-4967-8BF8-2A23C4E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390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950A3-1E21-4A4B-8679-1EDA0BF9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6248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E78E6-6429-4A3E-9E34-3BD78B2B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DE137-EE53-4CE9-BC47-8298D1E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Weak-topic practice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BE6E-D99F-46DB-80B9-1B8027B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4790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93B"/>
                </a:solidFill>
              </a:defRPr>
            </a:pPr>
            <a:r>
              <a:rPr sz="975" b="0">
                <a:solidFill>
                  <a:srgbClr val="1E293B"/>
                </a:solidFill>
              </a:rPr>
              <a:t>After each exam, a small practice paper can be generated from the student’s weakest areas.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40472-1FEB-4A3B-B527-4871876D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6248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A7977-E8C2-42B8-9141-8A43607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B674E-AB0C-4C59-B58A-AB75E9D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Gujarati + English friendly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D6309-5B47-4C7E-B9AF-80BA09D2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93B"/>
                </a:solidFill>
              </a:defRPr>
            </a:pPr>
            <a:r>
              <a:rPr sz="975" b="0">
                <a:solidFill>
                  <a:srgbClr val="1E293B"/>
                </a:solidFill>
              </a:rPr>
              <a:t>Useful for local institutes with mixed student comfort levels and parent communication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4F69A-C52A-44F7-9F54-3D6ACB7E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6248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9EFA1-6472-4DBF-9751-4FFB09E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16157-D7CF-4C90-8DB4-6685214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Template-based academic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A5C7E-3ECA-4B39-AEA4-2D43B76F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93B"/>
                </a:solidFill>
              </a:defRPr>
            </a:pPr>
            <a:r>
              <a:rPr sz="975" b="0">
                <a:solidFill>
                  <a:srgbClr val="1E293B"/>
                </a:solidFill>
              </a:rPr>
              <a:t>Board-style, chapter test, unit test, and mock test templates reduce teacher effort.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045C5-0264-412B-9DFB-EA7F51AE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62484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D4FF6-7603-4C5A-86C4-067500E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63731-ECB4-4E34-B479-E5B9D3E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9105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Parent-visible progress reporting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625DE-518D-4775-BB63-FAD521F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965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93B"/>
                </a:solidFill>
              </a:defRPr>
            </a:pPr>
            <a:r>
              <a:rPr sz="975" b="0">
                <a:solidFill>
                  <a:srgbClr val="1E293B"/>
                </a:solidFill>
              </a:rPr>
              <a:t>Institutes can later show marks, trends, ranks, and consistency in a much clearer way.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B381F-99B2-46CD-9511-0A66DA8F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562350" cy="390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E4AC2-801C-4BAB-A52B-0DD5E2E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Positioning statement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2EBA3-E949-4947-B1FF-FC7F1839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724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This should be pitched as a test + analysis + improvement platform, not only as an online exam portal.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That makes the value clearer for institute owners, teachers, students, and parents.</a:t>
            </a:r>
          </a:p>
        </p:txBody>
      </p:sp>
    </p:spTree>
    <p:extLst>
      <p:ext uri="{BB962C8B-B14F-4D97-AF65-F5344CB8AC3E}">
        <p14:creationId xmlns:p14="http://schemas.microsoft.com/office/powerpoint/2010/main" val="16537391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DA66B-6641-4358-B80D-BE22189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7E6E1-3434-4D67-84AC-55B5486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Confidential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6F288-08A6-4023-99B2-DCEB010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Suggested Delivery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E2AEC-CADF-476D-8D65-9EDB8BC8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</a:defRPr>
            </a:pPr>
            <a:r>
              <a:rPr sz="1125" b="0">
                <a:solidFill>
                  <a:srgbClr val="1E293B"/>
                </a:solidFill>
              </a:rPr>
              <a:t>A phased approach that keeps MVP realistic and valuable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2574C-44D5-496C-B277-7C45588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933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4C7D5-5457-47AF-8380-0D80D9D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41B3E-1D56-4AB0-8D97-C23990B8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05F1F-10E0-4FED-AA5D-55DC9DB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CBE6B-C7A4-4217-886A-2ED45DC3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Foundation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Auth, roles, academic hierarchy, question bank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A9009-25BC-45B9-9DCD-20224765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660CF-8A63-43CC-A55F-044143B6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0955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1120E-E352-4962-A6CE-C72A2190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515C9-B86A-48FE-8EFB-7AA3C89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Phase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DA98E-DE4B-4DD7-8EC8-2C8E499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Exam Engine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Blueprints, paper generation, exam runner,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2D76F-F43B-4963-947F-42C155EA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8337E-71B3-489D-A65D-06DC7053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B5072-C101-40B9-AAB3-288362D6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5B336-D22C-4026-BF6F-FCDC20F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Phase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1BF0E-5662-4511-ADEF-EFF83FEB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Analytics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Weak topics, student dashboard, teacher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86BA2-DA14-4A7B-AE18-48BF30B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4B30F-8599-41EF-9781-3557D78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0955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58D1C-10EE-4B62-96F8-8E3A4C80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40865-EBB2-49D4-BCAF-FF6ED8D9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Phase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E2FDA-8B7A-4060-89AC-77721DC4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Growth Features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</a:defRPr>
            </a:pPr>
            <a:r>
              <a:rPr sz="1200" b="0">
                <a:solidFill>
                  <a:srgbClr val="1E293B"/>
                </a:solidFill>
              </a:rPr>
              <a:t>Practice tests, Gujarati support, reports, parent view</a:t>
            </a:r>
          </a:p>
        </p:txBody>
      </p:sp>
    </p:spTree>
    <p:extLst>
      <p:ext uri="{BB962C8B-B14F-4D97-AF65-F5344CB8AC3E}">
        <p14:creationId xmlns:p14="http://schemas.microsoft.com/office/powerpoint/2010/main" val="300346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6CEBAC-4D99-4376-9D47-7370778B1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B6C2D-61B9-44E8-851E-F7A1E243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D327C-0A31-421A-BF46-8EE63EC4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Next Step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59040-CB31-4662-9DD0-408EE830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09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7F7"/>
                </a:solidFill>
              </a:defRPr>
            </a:pPr>
            <a:r>
              <a:rPr sz="1650" b="0">
                <a:solidFill>
                  <a:srgbClr val="DCE7F7"/>
                </a:solidFill>
              </a:rPr>
              <a:t>Start with a focused MVP that solves daily test operations first, then expand into analytics-led academic improvement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8936F-9FB9-4731-831D-0726A20D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9530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B6A33-B873-47F0-B5AE-77D38ADF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447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Finalize MVP scope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Freeze schema and modules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Begin UI and backend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FCBA9-9563-4F0A-910F-B171443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52D5F-21A5-47B2-BB36-B11D0CC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5D95C-A5BD-4EBB-B4C1-1D20E91F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72"/>
          </a:solidFill>
          <a:ln xmlns:a="http://schemas.openxmlformats.org/drawingml/2006/main" w="0">
            <a:solidFill>
              <a:srgbClr val="113A7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D5FF4-81BE-4C43-A76C-83443C72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3999651"/>
      </p:ext>
    </p:extLst>
  </p:cSld>
</p:sld>
</file>

<file path=ppt/theme/theme1.xml><?xml version="1.0" encoding="utf-8"?>
<a:theme xmlns:a="http://schemas.openxmlformats.org/drawingml/2006/main" name="Gujarat Tuition Theme">
  <a:themeElements>
    <a:clrScheme name="Gujarat Tuition Theme">
      <a:accent1>
        <a:srgbClr val="0EA5E9"/>
      </a:accent1>
      <a:accent2>
        <a:srgbClr val="14B8A6"/>
      </a:accent2>
      <a:accent3>
        <a:srgbClr val="F59E0B"/>
      </a:accent3>
      <a:accent4>
        <a:srgbClr val="10B981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ujarat Tuition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2026-04-18T17:39:22.7680000Z</dcterms:created>
  <dcterms:modified xsi:type="dcterms:W3CDTF">2026-04-18T17:39:22.7680000Z</dcterms:modified>
</coreProperties>
</file>